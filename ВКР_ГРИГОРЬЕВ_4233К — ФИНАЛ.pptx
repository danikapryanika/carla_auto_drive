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9"/>
  </p:notesMasterIdLst>
  <p:handoutMasterIdLst>
    <p:handoutMasterId r:id="rId20"/>
  </p:handoutMasterIdLst>
  <p:sldIdLst>
    <p:sldId id="1201" r:id="rId4"/>
    <p:sldId id="1231" r:id="rId5"/>
    <p:sldId id="1218" r:id="rId6"/>
    <p:sldId id="1243" r:id="rId7"/>
    <p:sldId id="1221" r:id="rId8"/>
    <p:sldId id="1235" r:id="rId9"/>
    <p:sldId id="1222" r:id="rId10"/>
    <p:sldId id="1207" r:id="rId11"/>
    <p:sldId id="1223" r:id="rId12"/>
    <p:sldId id="1237" r:id="rId13"/>
    <p:sldId id="1241" r:id="rId14"/>
    <p:sldId id="1240" r:id="rId15"/>
    <p:sldId id="1242" r:id="rId16"/>
    <p:sldId id="1229" r:id="rId17"/>
    <p:sldId id="1230" r:id="rId18"/>
  </p:sldIdLst>
  <p:sldSz cx="12192000" cy="6858000"/>
  <p:notesSz cx="6858000" cy="9144000"/>
  <p:embeddedFontLs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201"/>
            <p14:sldId id="1231"/>
            <p14:sldId id="1218"/>
            <p14:sldId id="1243"/>
            <p14:sldId id="1221"/>
            <p14:sldId id="1235"/>
            <p14:sldId id="1222"/>
            <p14:sldId id="1207"/>
            <p14:sldId id="1223"/>
            <p14:sldId id="1237"/>
            <p14:sldId id="1241"/>
            <p14:sldId id="1240"/>
            <p14:sldId id="1242"/>
            <p14:sldId id="1229"/>
            <p14:sldId id="12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816" autoAdjust="0"/>
    <p:restoredTop sz="90520" autoAdjust="0"/>
  </p:normalViewPr>
  <p:slideViewPr>
    <p:cSldViewPr snapToGrid="0" snapToObjects="1">
      <p:cViewPr varScale="1">
        <p:scale>
          <a:sx n="74" d="100"/>
          <a:sy n="74" d="100"/>
        </p:scale>
        <p:origin x="72" y="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4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rPr lang="ru-RU"/>
              <a:pPr/>
              <a:t>23.06.2026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1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37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273643"/>
            <a:ext cx="8051638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моделей глубокого обучения для задачи автономной навигации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4" y="4258962"/>
            <a:ext cx="7050086" cy="84115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Григорьев Данила Александрович, гр. 4233к</a:t>
            </a:r>
          </a:p>
          <a:p>
            <a:endParaRPr lang="ru-RU" dirty="0"/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 </a:t>
            </a:r>
            <a:r>
              <a:rPr lang="ru-RU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Скобцов</a:t>
            </a:r>
            <a:r>
              <a:rPr lang="ru-RU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Вадим Юрьевич,</a:t>
            </a:r>
          </a:p>
          <a:p>
            <a:r>
              <a:rPr lang="ru-RU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канд. техн. наук , доцент</a:t>
            </a:r>
          </a:p>
          <a:p>
            <a:endParaRPr lang="ru-RU" b="0" i="0" dirty="0">
              <a:solidFill>
                <a:srgbClr val="606265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2421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Цель и задачи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93A51E0-594E-4829-B37D-2694C1C3ED60}"/>
              </a:ext>
            </a:extLst>
          </p:cNvPr>
          <p:cNvSpPr txBox="1">
            <a:spLocks/>
          </p:cNvSpPr>
          <p:nvPr/>
        </p:nvSpPr>
        <p:spPr>
          <a:xfrm>
            <a:off x="546100" y="4191000"/>
            <a:ext cx="11137900" cy="2286000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+mj-lt"/>
              <a:buAutoNum type="arabi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500" b="1" dirty="0">
                <a:solidFill>
                  <a:srgbClr val="005AAA"/>
                </a:solidFill>
              </a:rPr>
              <a:t>Актуальность</a:t>
            </a:r>
          </a:p>
          <a:p>
            <a:pPr algn="just"/>
            <a:r>
              <a:rPr lang="ru-RU" sz="1400" dirty="0"/>
              <a:t>Автономное вождение — одно из ключевых направлений ИИ: рынок беспилотных систем растёт, а классические rule-based алгоритмы плохо справляются с городской средой.</a:t>
            </a:r>
          </a:p>
          <a:p>
            <a:pPr algn="just"/>
            <a:r>
              <a:rPr lang="ru-RU" sz="1400" dirty="0"/>
              <a:t>End-to-end модели глубокого обучения позволяют единой сетью отображать сенсоры в управляющие сигналы, но требуют решения проблем неоднозначности на перекрёстках и устойчивости к разным сенсорным условиям — что и адресует CIL с мультимодальным входом.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F1301-B7F1-4E7C-A520-ECE432D3D4D6}"/>
              </a:ext>
            </a:extLst>
          </p:cNvPr>
          <p:cNvSpPr txBox="1"/>
          <p:nvPr/>
        </p:nvSpPr>
        <p:spPr>
          <a:xfrm>
            <a:off x="550863" y="1526796"/>
            <a:ext cx="1113500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b="1" dirty="0">
                <a:solidFill>
                  <a:srgbClr val="005AAA"/>
                </a:solidFill>
              </a:rPr>
              <a:t>Цель: </a:t>
            </a:r>
            <a:r>
              <a:rPr lang="ru-RU" sz="1800" dirty="0"/>
              <a:t>разработать модель глубокого обучения для управления автомобилем в симуляторе CARLA 0.9.14, преобразующую сенсорные данные (RGB, LiDAR, скорость) в управляющие сигналы (руль, газ) с учётом навигационных команд.</a:t>
            </a:r>
          </a:p>
          <a:p>
            <a:pPr algn="just"/>
            <a:endParaRPr lang="ru-RU" sz="1000" dirty="0"/>
          </a:p>
          <a:p>
            <a:pPr algn="just"/>
            <a:r>
              <a:rPr lang="ru-RU" sz="1800" b="1" dirty="0">
                <a:solidFill>
                  <a:srgbClr val="005AAA"/>
                </a:solidFill>
              </a:rPr>
              <a:t>Задачи:</a:t>
            </a:r>
          </a:p>
          <a:p>
            <a:pPr algn="just">
              <a:buFont typeface="+mj-lt"/>
              <a:buAutoNum type="arabicPeriod"/>
            </a:pPr>
            <a:r>
              <a:rPr lang="ru-RU" sz="1500" dirty="0"/>
              <a:t>Проанализировать подходы (BC, RL, CIL) и обосновать выбор метода.</a:t>
            </a:r>
          </a:p>
          <a:p>
            <a:pPr algn="just">
              <a:buFont typeface="+mj-lt"/>
              <a:buAutoNum type="arabicPeriod"/>
            </a:pPr>
            <a:r>
              <a:rPr lang="ru-RU" sz="1500" dirty="0"/>
              <a:t>Спроектировать архитектуру CILDriveNet: RGB + LiDAR BEV + скорость, рекуррентный слой GRU, 4 командные ветки.</a:t>
            </a:r>
          </a:p>
          <a:p>
            <a:pPr algn="just">
              <a:buFont typeface="+mj-lt"/>
              <a:buAutoNum type="arabicPeriod"/>
            </a:pPr>
            <a:r>
              <a:rPr lang="ru-RU" sz="1500" dirty="0"/>
              <a:t>Собрать датасет 25 000 кадров (CARLA Town10HD), обучить модель и оценить её на валидации.</a:t>
            </a:r>
          </a:p>
          <a:p>
            <a:pPr algn="just">
              <a:buFont typeface="+mj-lt"/>
              <a:buAutoNum type="arabicPeriod"/>
            </a:pPr>
            <a:r>
              <a:rPr lang="ru-RU" sz="1500" dirty="0"/>
              <a:t>Реализовать модуль инференса с двухуровневой защитой от столкновений и проверить модель в CARLA.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52FC9-3A37-426E-7AC6-77FDC7365101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29469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Подходы к автономному вождению и идея CIL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78059-7F1F-4351-A5C4-E90E22E132B3}"/>
              </a:ext>
            </a:extLst>
          </p:cNvPr>
          <p:cNvSpPr txBox="1"/>
          <p:nvPr/>
        </p:nvSpPr>
        <p:spPr>
          <a:xfrm>
            <a:off x="546100" y="1143000"/>
            <a:ext cx="546100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Три парадигмы end-to-end вождения</a:t>
            </a:r>
          </a:p>
          <a:p>
            <a:pPr marL="228600" indent="-228600" algn="l">
              <a:buFont typeface="Arial"/>
              <a:buChar char="•"/>
            </a:pPr>
            <a:r>
              <a:rPr lang="ru-RU" sz="1400" b="1" dirty="0"/>
              <a:t>Behavioral Cloning (BC).</a:t>
            </a:r>
            <a:r>
              <a:rPr lang="ru-RU" sz="1400" dirty="0"/>
              <a:t> Supervised-обучение по парам «сенсоры → управление эксперта». Просто, но накапливает ошибки: модель уходит с траектории и попадает в состояния, которых не видела в train (covariate shift).</a:t>
            </a:r>
          </a:p>
          <a:p>
            <a:pPr marL="228600" indent="-228600" algn="l">
              <a:buFont typeface="Arial"/>
              <a:buChar char="•"/>
            </a:pPr>
            <a:r>
              <a:rPr lang="ru-RU" sz="1400" b="1" dirty="0"/>
              <a:t>Reinforcement Learning (RL).</a:t>
            </a:r>
            <a:r>
              <a:rPr lang="ru-RU" sz="1400" dirty="0"/>
              <a:t> Агент учится через награду за безопасную и быструю езду. Не требует разметки, но нестабилен, нуждается в миллионах эпизодов в симуляторе и ручной настройке функции награды.</a:t>
            </a:r>
          </a:p>
          <a:p>
            <a:pPr marL="228600" indent="-228600" algn="l">
              <a:buFont typeface="Arial"/>
              <a:buChar char="•"/>
            </a:pPr>
            <a:r>
              <a:rPr lang="ru-RU" sz="1400" b="1" dirty="0">
                <a:solidFill>
                  <a:srgbClr val="005AAA"/>
                </a:solidFill>
              </a:rPr>
              <a:t>Conditional Imitation Learning (CIL) — выбран в работе.</a:t>
            </a:r>
            <a:r>
              <a:rPr lang="ru-RU" sz="1400" dirty="0"/>
              <a:t> Расширение BC: к сенсорам добавляется навигационная команда (куда ехать). Сохраняет простоту supervised-обучения и устраняет неоднозначность на перекрёстках.</a:t>
            </a:r>
          </a:p>
          <a:p>
            <a:pPr algn="l"/>
            <a:endParaRPr lang="ru-RU" sz="1200" dirty="0"/>
          </a:p>
          <a:p>
            <a:pPr algn="l"/>
            <a:r>
              <a:rPr lang="ru-RU" sz="1400" b="1" dirty="0">
                <a:solidFill>
                  <a:srgbClr val="005AAA"/>
                </a:solidFill>
              </a:rPr>
              <a:t>Почему CIL подходит под задачу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Хватает 20 тыс. кадров демонстраций — против миллионов эпизодов RL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Эксперт — встроенный TM-автопилот CARLA, не нужны ручные демонстрации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Обучается на одной GPU, без подбора reward-функции</a:t>
            </a:r>
          </a:p>
        </p:txBody>
      </p:sp>
      <p:sp>
        <p:nvSpPr>
          <p:cNvPr id="800" name="BranchGating"/>
          <p:cNvSpPr txBox="1"/>
          <p:nvPr/>
        </p:nvSpPr>
        <p:spPr>
          <a:xfrm>
            <a:off x="6286500" y="1143000"/>
            <a:ext cx="5397500" cy="53340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Ключевая идея CIL — Branch-Gating</a:t>
            </a:r>
          </a:p>
          <a:p>
            <a:pPr algn="just"/>
            <a:r>
              <a:rPr lang="ru-RU" sz="1400" dirty="0"/>
              <a:t>На перекрёстке сенсорные данные одинаковы для всех направлений, но действие эксперта зависит от маршрута. Без подсказки одна сеть «усредняет» — учится ехать прямо или произвольно.</a:t>
            </a:r>
          </a:p>
          <a:p>
            <a:pPr algn="l"/>
            <a:r>
              <a:rPr lang="ru-RU" sz="1400" b="1" dirty="0"/>
              <a:t>Решение: четыре независимые ветки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FOLLOW</a:t>
            </a:r>
            <a:r>
              <a:rPr lang="ru-RU" sz="1300" dirty="0"/>
              <a:t> — следовать по полосе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LEFT / RIGHT</a:t>
            </a:r>
            <a:r>
              <a:rPr lang="ru-RU" sz="1300" dirty="0"/>
              <a:t> — поворот на перекрёстке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STRAIGHT</a:t>
            </a:r>
            <a:r>
              <a:rPr lang="ru-RU" sz="1300" dirty="0"/>
              <a:t> — проезд перекрёстка прямо</a:t>
            </a:r>
          </a:p>
          <a:p>
            <a:pPr algn="l"/>
            <a:r>
              <a:rPr lang="ru-RU" sz="1400" b="1" dirty="0"/>
              <a:t>Как работает Branch-Gating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300" b="1" dirty="0"/>
              <a:t>При обучении: </a:t>
            </a:r>
            <a:r>
              <a:rPr lang="ru-RU" sz="1300" dirty="0"/>
              <a:t>градиент идёт только через ту ветку, чья команда записана в кадре; остальные «заморожены» — каждая специализируется на своём манёвре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300" b="1" dirty="0"/>
              <a:t>При инференсе: </a:t>
            </a:r>
            <a:r>
              <a:rPr lang="ru-RU" sz="1300" i="1" dirty="0"/>
              <a:t>get_command()</a:t>
            </a:r>
            <a:r>
              <a:rPr lang="ru-RU" sz="1300" dirty="0"/>
              <a:t> анализирует путевые точки CARLA на 28 м вперёд и выбирает нужную ветку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A5548-12C2-C4E0-4AB5-B4E7D7535B81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207412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Рекуррентная память: GRU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78059-7F1F-4351-A5C4-E90E22E132B3}"/>
              </a:ext>
            </a:extLst>
          </p:cNvPr>
          <p:cNvSpPr txBox="1"/>
          <p:nvPr/>
        </p:nvSpPr>
        <p:spPr>
          <a:xfrm>
            <a:off x="546100" y="1143000"/>
            <a:ext cx="5461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Зачем рекуррентная память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Управление зависит от истории кадров (начатый манёвр, инерция), а не только от текущего кадра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Базовые RNN страдают от затухания и взрыва градиента на длинных последовательностях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GRU (Cho et al., 2014) — вентильная память: 2 вентиля при качестве на уровне LSTM</a:t>
            </a:r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Вентили блока GRU (схема справа)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Вентиль обновления z — сколько прошлого состояния сохранить, а сколько обновить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Вентиль сброса r — какую часть прошлого «забыть» при расчёте кандидата h̃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Слой GRU 256→256 хранит h между кадрами — манёвр доводится до конца на перекрёстке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144626-7529-B3E6-2639-757F1F1B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320800"/>
            <a:ext cx="5308600" cy="3755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CDF944-9B91-46B2-5741-CB3B5006084F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61883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Сравнение с аналогами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09234-B96C-45BC-926F-46F55235B949}"/>
              </a:ext>
            </a:extLst>
          </p:cNvPr>
          <p:cNvSpPr txBox="1"/>
          <p:nvPr/>
        </p:nvSpPr>
        <p:spPr>
          <a:xfrm>
            <a:off x="546100" y="5461000"/>
            <a:ext cx="111379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500" dirty="0"/>
              <a:t>CILDriveNet — баланс между простотой CILRS и мощью TransFuser: добавлены лидарный BEV, рекуррентный слой GRU (временная память) и аппаратный датчик препятствий при умеренной сложности реализации и без требований к GPU &gt; 16 ГБ.</a:t>
            </a:r>
          </a:p>
        </p:txBody>
      </p:sp>
      <p:graphicFrame>
        <p:nvGraphicFramePr>
          <p:cNvPr id="500" name="CompareTable"/>
          <p:cNvGraphicFramePr>
            <a:graphicFrameLocks noGrp="1"/>
          </p:cNvGraphicFramePr>
          <p:nvPr/>
        </p:nvGraphicFramePr>
        <p:xfrm>
          <a:off x="546100" y="1143000"/>
          <a:ext cx="11137900" cy="398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Критерий</a:t>
                      </a:r>
                    </a:p>
                  </a:txBody>
                  <a:tcPr marL="36000" marR="36000" marT="36000" marB="36000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CILRS</a:t>
                      </a:r>
                    </a:p>
                  </a:txBody>
                  <a:tcPr marL="36000" marR="36000" marT="36000" marB="36000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LBC/Roach</a:t>
                      </a:r>
                    </a:p>
                  </a:txBody>
                  <a:tcPr marL="36000" marR="36000" marT="36000" marB="36000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TransFuser</a:t>
                      </a:r>
                    </a:p>
                  </a:txBody>
                  <a:tcPr marL="36000" marR="36000" marT="36000" marB="36000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CILDriveNet</a:t>
                      </a:r>
                    </a:p>
                  </a:txBody>
                  <a:tcPr marL="36000" marR="36000" marT="36000" marB="36000">
                    <a:solidFill>
                      <a:srgbClr val="005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Входы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RGB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RGB+привил.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RGB+LiDAR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1A1A1A"/>
                          </a:solidFill>
                        </a:rPr>
                        <a:t>RGB+LiDAR+Speed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Архитектура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CNN+MLP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CNN+RL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Transformer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1A1A1A"/>
                          </a:solidFill>
                        </a:rPr>
                        <a:t>ResNet-18 + CNN + GRU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GPU &gt; 16 ГБ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Да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Сложность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Низкая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Высокая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Высокая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1A1A1A"/>
                          </a:solidFill>
                        </a:rPr>
                        <a:t>Средняя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LiDAR BEV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Да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1A1A1A"/>
                          </a:solidFill>
                        </a:rPr>
                        <a:t>Да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Obstacle Sensor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solidFill>
                            <a:srgbClr val="1A1A1A"/>
                          </a:solidFill>
                        </a:rPr>
                        <a:t>Нет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1A1A1A"/>
                          </a:solidFill>
                        </a:rPr>
                        <a:t>Да</a:t>
                      </a:r>
                    </a:p>
                  </a:txBody>
                  <a:tcPr marL="36000" marR="36000" marT="36000" marB="36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8ABE62-A90C-3311-ADF3-DE83A5C94654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334853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Стек технологий и требования</a:t>
            </a:r>
          </a:p>
        </p:txBody>
      </p:sp>
      <p:sp>
        <p:nvSpPr>
          <p:cNvPr id="950" name="StackLeft"/>
          <p:cNvSpPr txBox="1"/>
          <p:nvPr/>
        </p:nvSpPr>
        <p:spPr>
          <a:xfrm>
            <a:off x="546100" y="1206500"/>
            <a:ext cx="5397500" cy="30861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Платформа и инструменты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Симулятор CARLA 0.9.14 (Intel Labs + UAB): синхронный режим world.tick(), TrafficManager, карта Town10HD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Язык Python 3.7 — официальный CARLA API (версии 3.6–3.8)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Фреймворк PyTorch 1.13; NumPy, OpenCV, Pandas, TensorBoard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Кодировщик кадра ResNet-18, предобучен на ImageNet → 512-d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Лидар Ray Cast: 32 канала, 40 м, 56 000 точек/с, 20 Гц</a:t>
            </a:r>
          </a:p>
        </p:txBody>
      </p:sp>
      <p:sp>
        <p:nvSpPr>
          <p:cNvPr id="951" name="StackRight"/>
          <p:cNvSpPr txBox="1"/>
          <p:nvPr/>
        </p:nvSpPr>
        <p:spPr>
          <a:xfrm>
            <a:off x="6350000" y="1206500"/>
            <a:ext cx="5397500" cy="30861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Ключевые требования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≥ 25 000 кадров (Town10HD); сбалансированные команды — не менее 8% на каждый поворот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Работа в реальном времени; steer ∈ [−1, 1] (tanh), throttle ∈ [0, 1] (sigmoid)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Двойное обнаружение препятствий: obstacle sensor + LiDAR</a:t>
            </a:r>
          </a:p>
          <a:p>
            <a:pPr algn="l"/>
            <a:r>
              <a:rPr lang="ru-RU" sz="1400" b="1" dirty="0"/>
              <a:t>Рабочая станция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CPU AMD Ryzen 5 5600H; 16 ГБ DDR4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GPU NVIDIA RTX 3050 Laptop, 4 ГБ, CUDA 11.8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Windows 11; SSD NVMe; Python 3.7 / PyTorch 1.13</a:t>
            </a:r>
          </a:p>
        </p:txBody>
      </p:sp>
      <p:sp>
        <p:nvSpPr>
          <p:cNvPr id="2" name="chip">
            <a:extLst>
              <a:ext uri="{FF2B5EF4-FFF2-40B4-BE49-F238E27FC236}">
                <a16:creationId xmlns:a16="http://schemas.microsoft.com/office/drawing/2014/main" id="{69975421-B368-4C57-9BB8-E4F0E755818C}"/>
              </a:ext>
            </a:extLst>
          </p:cNvPr>
          <p:cNvSpPr/>
          <p:nvPr/>
        </p:nvSpPr>
        <p:spPr>
          <a:xfrm>
            <a:off x="520700" y="4724400"/>
            <a:ext cx="1752600" cy="5842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CARLA 0.9.14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chip">
            <a:extLst>
              <a:ext uri="{FF2B5EF4-FFF2-40B4-BE49-F238E27FC236}">
                <a16:creationId xmlns:a16="http://schemas.microsoft.com/office/drawing/2014/main" id="{D49D6851-41BA-4BB0-8543-244EE24A9177}"/>
              </a:ext>
            </a:extLst>
          </p:cNvPr>
          <p:cNvSpPr/>
          <p:nvPr/>
        </p:nvSpPr>
        <p:spPr>
          <a:xfrm>
            <a:off x="2400300" y="4724400"/>
            <a:ext cx="1752600" cy="5842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Python 3.7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chip">
            <a:extLst>
              <a:ext uri="{FF2B5EF4-FFF2-40B4-BE49-F238E27FC236}">
                <a16:creationId xmlns:a16="http://schemas.microsoft.com/office/drawing/2014/main" id="{B31AAE94-03E7-452B-9895-9AC6D3B7801B}"/>
              </a:ext>
            </a:extLst>
          </p:cNvPr>
          <p:cNvSpPr/>
          <p:nvPr/>
        </p:nvSpPr>
        <p:spPr>
          <a:xfrm>
            <a:off x="4279900" y="4724400"/>
            <a:ext cx="1752600" cy="5842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 dirty="0" err="1">
                <a:solidFill>
                  <a:srgbClr val="FFFFFF"/>
                </a:solidFill>
                <a:latin typeface="Calibri"/>
                <a:cs typeface="Calibri"/>
              </a:rPr>
              <a:t>PyTorch</a:t>
            </a:r>
            <a:r>
              <a:rPr lang="en-US" sz="1300" b="1" dirty="0">
                <a:solidFill>
                  <a:srgbClr val="FFFFFF"/>
                </a:solidFill>
                <a:latin typeface="Calibri"/>
                <a:cs typeface="Calibri"/>
              </a:rPr>
              <a:t> 1.13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chip">
            <a:extLst>
              <a:ext uri="{FF2B5EF4-FFF2-40B4-BE49-F238E27FC236}">
                <a16:creationId xmlns:a16="http://schemas.microsoft.com/office/drawing/2014/main" id="{A5D63EB1-8CE9-4304-9A10-DC91F08ACB2F}"/>
              </a:ext>
            </a:extLst>
          </p:cNvPr>
          <p:cNvSpPr/>
          <p:nvPr/>
        </p:nvSpPr>
        <p:spPr>
          <a:xfrm>
            <a:off x="6159500" y="4724400"/>
            <a:ext cx="1752600" cy="5842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ResNet-18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chip">
            <a:extLst>
              <a:ext uri="{FF2B5EF4-FFF2-40B4-BE49-F238E27FC236}">
                <a16:creationId xmlns:a16="http://schemas.microsoft.com/office/drawing/2014/main" id="{064AEDC2-4D71-4C77-A68F-62B5F6485317}"/>
              </a:ext>
            </a:extLst>
          </p:cNvPr>
          <p:cNvSpPr/>
          <p:nvPr/>
        </p:nvSpPr>
        <p:spPr>
          <a:xfrm>
            <a:off x="8039100" y="4724400"/>
            <a:ext cx="1752600" cy="5842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LiDAR BEV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chip">
            <a:extLst>
              <a:ext uri="{FF2B5EF4-FFF2-40B4-BE49-F238E27FC236}">
                <a16:creationId xmlns:a16="http://schemas.microsoft.com/office/drawing/2014/main" id="{0FFE00F8-C9C5-4675-93E7-391042100372}"/>
              </a:ext>
            </a:extLst>
          </p:cNvPr>
          <p:cNvSpPr/>
          <p:nvPr/>
        </p:nvSpPr>
        <p:spPr>
          <a:xfrm>
            <a:off x="9918700" y="4724400"/>
            <a:ext cx="1752600" cy="5842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Calibri"/>
                <a:cs typeface="Calibri"/>
              </a:rPr>
              <a:t>CUDA 11.8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8" name="chipcap">
            <a:extLst>
              <a:ext uri="{FF2B5EF4-FFF2-40B4-BE49-F238E27FC236}">
                <a16:creationId xmlns:a16="http://schemas.microsoft.com/office/drawing/2014/main" id="{F476D228-6AA6-46A9-BB63-206A2DD8C6AE}"/>
              </a:ext>
            </a:extLst>
          </p:cNvPr>
          <p:cNvSpPr txBox="1"/>
          <p:nvPr/>
        </p:nvSpPr>
        <p:spPr>
          <a:xfrm>
            <a:off x="520700" y="43688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200" i="1">
                <a:solidFill>
                  <a:srgbClr val="666666"/>
                </a:solidFill>
              </a:rPr>
              <a:t>Ключевые компоненты стека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FAABD-18E3-F58B-D1C3-827600D78853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131936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Архитектура CILDriveNet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E85A1-D801-4F8B-BFE2-ADCCFF0BFAB1}"/>
              </a:ext>
            </a:extLst>
          </p:cNvPr>
          <p:cNvSpPr txBox="1"/>
          <p:nvPr/>
        </p:nvSpPr>
        <p:spPr>
          <a:xfrm>
            <a:off x="546100" y="1270000"/>
            <a:ext cx="52070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400" b="1" dirty="0">
                <a:solidFill>
                  <a:srgbClr val="005AAA"/>
                </a:solidFill>
              </a:rPr>
              <a:t>Зачем такая архитектура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Камера видит цвет и разметку, лидар — геометрию и препятствия независимо от освещения, скорость задаёт реакцию по газу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Backbone ResNet-18 переносит признаки из ImageNet — обучение сходится на 25 тыс. кадров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GRU</a:t>
            </a:r>
            <a:r>
              <a:rPr lang="ru-RU" sz="1300" dirty="0"/>
              <a:t> хранит историю кадров — сглаживает управление и учитывает динамику сцены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4 ветки разделяют поведение на перекрёстке: каждая обучается только на «своих» кадрах</a:t>
            </a:r>
          </a:p>
          <a:p>
            <a:pPr algn="l"/>
            <a:endParaRPr lang="ru-RU" sz="1000" dirty="0"/>
          </a:p>
          <a:p>
            <a:pPr algn="l"/>
            <a:r>
              <a:rPr lang="ru-RU" sz="1400" b="1" dirty="0">
                <a:solidFill>
                  <a:srgbClr val="005AAA"/>
                </a:solidFill>
              </a:rPr>
              <a:t>Входы → выходы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RGB 224×224 </a:t>
            </a:r>
            <a:r>
              <a:rPr lang="ru-RU" sz="1300" dirty="0"/>
              <a:t>→ ResNet-18 → 512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LiDAR BEV 5×200×200 </a:t>
            </a:r>
            <a:r>
              <a:rPr lang="ru-RU" sz="1300" dirty="0"/>
              <a:t>→ CNN → 128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Скорость </a:t>
            </a:r>
            <a:r>
              <a:rPr lang="ru-RU" sz="1300" dirty="0"/>
              <a:t>→ MLP → 64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Fusion 704 → 512 → 256 → </a:t>
            </a:r>
            <a:r>
              <a:rPr lang="ru-RU" sz="1300" b="1" dirty="0"/>
              <a:t>GRU 256 → 256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dirty="0"/>
              <a:t>4 ветки × FC(256→128→2): </a:t>
            </a:r>
            <a:r>
              <a:rPr lang="ru-RU" sz="1300" b="1" dirty="0"/>
              <a:t>steer</a:t>
            </a:r>
            <a:r>
              <a:rPr lang="ru-RU" sz="1300" dirty="0"/>
              <a:t> (tanh), </a:t>
            </a:r>
            <a:r>
              <a:rPr lang="ru-RU" sz="1300" b="1" dirty="0"/>
              <a:t>throttle</a:t>
            </a:r>
            <a:r>
              <a:rPr lang="ru-RU" sz="1300" dirty="0"/>
              <a:t> (sigmoid)</a:t>
            </a:r>
          </a:p>
          <a:p>
            <a:pPr algn="l"/>
            <a:r>
              <a:rPr lang="ru-RU" sz="1200" i="1" dirty="0"/>
              <a:t>~12 млн параметров (из них 11,2 млн — ResNet-18)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E498BA7-F4E6-FC32-71E8-3F2B8A3C32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95" r="9389"/>
          <a:stretch/>
        </p:blipFill>
        <p:spPr>
          <a:xfrm>
            <a:off x="6438902" y="998359"/>
            <a:ext cx="4764807" cy="581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859DDD-A14E-7438-0C6D-FC2A1D653E26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108167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Среда CARLA и LiDAR BEV-представление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B1BE0-76AC-4E84-9611-2D19FFCEDBE0}"/>
              </a:ext>
            </a:extLst>
          </p:cNvPr>
          <p:cNvSpPr txBox="1"/>
          <p:nvPr/>
        </p:nvSpPr>
        <p:spPr>
          <a:xfrm>
            <a:off x="546100" y="1270000"/>
            <a:ext cx="558800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Симулятор CARLA 0.9.14, Town10HD</a:t>
            </a:r>
          </a:p>
          <a:p>
            <a:pPr algn="just"/>
            <a:r>
              <a:rPr lang="ru-RU" sz="1500" dirty="0"/>
              <a:t>Городская карта с перекрёстками, кольцевыми развязками и светофорами. Синхронный режим </a:t>
            </a:r>
            <a:r>
              <a:rPr lang="ru-RU" sz="1500" i="1" dirty="0"/>
              <a:t>world.tick()</a:t>
            </a:r>
            <a:r>
              <a:rPr lang="ru-RU" sz="1500" dirty="0"/>
              <a:t> обеспечивает строгую привязку сенсоров и меток управления к каждому кадру.</a:t>
            </a:r>
          </a:p>
          <a:p>
            <a:pPr algn="l"/>
            <a:endParaRPr lang="ru-RU" sz="1400" dirty="0"/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Лидар Ray Cast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32 канала, 56 000 точек/с, 20 Гц, дальность 40 м, высота монтажа 2.4 м</a:t>
            </a:r>
          </a:p>
          <a:p>
            <a:pPr algn="l"/>
            <a:endParaRPr lang="ru-RU" sz="1400" dirty="0"/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BEV-тензор 5×200×200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Покрытие ±25 м, разрешение 0.25 м/пиксель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Каналы 1–4 — высотные срезы (z ∈ [−3, 2] м)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Канал 5 — нормализованная интенсивность отражения</a:t>
            </a:r>
          </a:p>
          <a:p>
            <a:pPr algn="l"/>
            <a:endParaRPr lang="ru-RU" sz="1400" dirty="0"/>
          </a:p>
          <a:p>
            <a:pPr algn="just"/>
            <a:r>
              <a:rPr lang="ru-RU" sz="1400" i="1" dirty="0"/>
              <a:t>BEV-формат удобен для свёрток и позволяет обнаруживать препятствия независимо от условий освещения.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A1FB603-37B8-223A-6E89-F212D8659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62"/>
          <a:stretch/>
        </p:blipFill>
        <p:spPr>
          <a:xfrm>
            <a:off x="6521450" y="2159000"/>
            <a:ext cx="4919980" cy="30374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15E150-D806-CE28-635A-049248855259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283686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Конвейер сбора данных и баланс классов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D28E3-584B-4301-8803-00A2FF6B09FC}"/>
              </a:ext>
            </a:extLst>
          </p:cNvPr>
          <p:cNvSpPr txBox="1"/>
          <p:nvPr/>
        </p:nvSpPr>
        <p:spPr>
          <a:xfrm>
            <a:off x="546100" y="1143000"/>
            <a:ext cx="609600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Что собрано: 25 000 кадров (Town10HD, TM-автопилот)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images/ — PNG 224×224 RGB (~250 КБ/кадр)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lidar/ — NPY float32 5×200×200 (~780 КБ/кадр)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labels.csv — steer, throttle, brake, speed, command</a:t>
            </a:r>
          </a:p>
          <a:p>
            <a:pPr algn="l"/>
            <a:endParaRPr lang="ru-RU" sz="1400" dirty="0"/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Проблема CARLA 0.9.14</a:t>
            </a:r>
          </a:p>
          <a:p>
            <a:pPr algn="l"/>
            <a:r>
              <a:rPr lang="ru-RU" sz="1400" i="1" dirty="0"/>
              <a:t>vehicle.get_control()</a:t>
            </a:r>
            <a:r>
              <a:rPr lang="ru-RU" sz="1400" dirty="0"/>
              <a:t> возвращает нули для TM-машин при </a:t>
            </a:r>
            <a:r>
              <a:rPr lang="ru-RU" sz="1400" i="1" dirty="0"/>
              <a:t>hybrid_physics_mode=True</a:t>
            </a:r>
            <a:r>
              <a:rPr lang="ru-RU" sz="1400" dirty="0"/>
              <a:t>.</a:t>
            </a:r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Решение: модель Аккермана</a:t>
            </a:r>
          </a:p>
          <a:p>
            <a:pPr algn="l"/>
            <a:r>
              <a:rPr lang="ru-RU" sz="1400" dirty="0"/>
              <a:t>Отключение hybrid-режима + расчёт управляющих сигналов из дельты позиции по модели Аккермана: </a:t>
            </a:r>
            <a:r>
              <a:rPr lang="ru-RU" sz="1400" i="1" dirty="0"/>
              <a:t>steer = clip(arctan(yaw_rate × L / v) / MAX_STEER_RAD, −1, 1)</a:t>
            </a:r>
            <a:r>
              <a:rPr lang="ru-RU" sz="1400" dirty="0"/>
              <a:t>, где L = 2.875 м (Tesla Model 3), MAX_STEER_RAD = 1.22 рад.</a:t>
            </a:r>
          </a:p>
        </p:txBody>
      </p:sp>
      <p:sp>
        <p:nvSpPr>
          <p:cNvPr id="600" name="BalanceTitle"/>
          <p:cNvSpPr txBox="1"/>
          <p:nvPr/>
        </p:nvSpPr>
        <p:spPr>
          <a:xfrm>
            <a:off x="6985000" y="1143000"/>
            <a:ext cx="4699000" cy="3810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Распределение команд (всего 25 000)</a:t>
            </a:r>
          </a:p>
        </p:txBody>
      </p:sp>
      <p:graphicFrame>
        <p:nvGraphicFramePr>
          <p:cNvPr id="601" name="BalanceTable"/>
          <p:cNvGraphicFramePr>
            <a:graphicFrameLocks noGrp="1"/>
          </p:cNvGraphicFramePr>
          <p:nvPr/>
        </p:nvGraphicFramePr>
        <p:xfrm>
          <a:off x="6985000" y="1587500"/>
          <a:ext cx="4699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>
                          <a:solidFill>
                            <a:srgbClr val="FFFFFF"/>
                          </a:solidFill>
                        </a:rPr>
                        <a:t>Команда</a:t>
                      </a:r>
                    </a:p>
                  </a:txBody>
                  <a:tcPr marL="36000" marR="36000" marT="18000" marB="18000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>
                          <a:solidFill>
                            <a:srgbClr val="FFFFFF"/>
                          </a:solidFill>
                        </a:rPr>
                        <a:t>Кадров</a:t>
                      </a:r>
                    </a:p>
                  </a:txBody>
                  <a:tcPr marL="36000" marR="36000" marT="18000" marB="18000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b="1" dirty="0">
                          <a:solidFill>
                            <a:srgbClr val="FFFFFF"/>
                          </a:solidFill>
                        </a:rPr>
                        <a:t>Доля</a:t>
                      </a:r>
                    </a:p>
                  </a:txBody>
                  <a:tcPr marL="36000" marR="36000" marT="18000" marB="18000">
                    <a:solidFill>
                      <a:srgbClr val="005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FOLLOW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9 025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36,1%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STRAIGHT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7 750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31,0%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RIGHT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4 475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17,9%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LEFT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3 750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300" dirty="0">
                          <a:solidFill>
                            <a:srgbClr val="1A1A1A"/>
                          </a:solidFill>
                        </a:rPr>
                        <a:t>15,0%</a:t>
                      </a:r>
                    </a:p>
                  </a:txBody>
                  <a:tcPr marL="36000" marR="36000" marT="18000" marB="18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2" name="SamplerInfo"/>
          <p:cNvSpPr txBox="1"/>
          <p:nvPr/>
        </p:nvSpPr>
        <p:spPr>
          <a:xfrm>
            <a:off x="6985000" y="3683000"/>
            <a:ext cx="4699000" cy="26670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WeightedRandomSampler</a:t>
            </a:r>
          </a:p>
          <a:p>
            <a:pPr algn="just"/>
            <a:r>
              <a:rPr lang="ru-RU" sz="1400" dirty="0"/>
              <a:t>FOLLOW преобладает (36,1%). Для усиления поворотов при обучении применён WeightedRandomSampler: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|steer| &gt; 0.06 → вес ×8</a:t>
            </a:r>
          </a:p>
          <a:p>
            <a:pPr marL="200000" indent="-200000" algn="l">
              <a:buFont typeface="Arial"/>
              <a:buChar char="•"/>
            </a:pPr>
            <a:r>
              <a:rPr lang="ru-RU" sz="1400" dirty="0"/>
              <a:t>LEFT/RIGHT/STRAIGHT → вес ×6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AF0DC-1E51-B6AF-87FF-F5A9ACB67A37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81486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Структуры данных: датасет и BEV-тензор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FD28E3-584B-4301-8803-00A2FF6B09FC}"/>
              </a:ext>
            </a:extLst>
          </p:cNvPr>
          <p:cNvSpPr txBox="1"/>
          <p:nvPr/>
        </p:nvSpPr>
        <p:spPr>
          <a:xfrm>
            <a:off x="546100" y="1143000"/>
            <a:ext cx="5943600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Формат датасета (data/train/)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images/ — PNG 224×224 RGB (~250 КБ/кадр)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lidar/ — NPY float32 5×200×200 (~780 КБ/кадр)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labels.csv — метаданные всех кадров; общий frame_id связывает кадр, тензор и метку</a:t>
            </a:r>
          </a:p>
          <a:p>
            <a:pPr algn="l"/>
            <a:r>
              <a:rPr lang="ru-RU" sz="1400" b="1" dirty="0"/>
              <a:t>Поля labels.csv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frame_id, image_path, lidar_path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steer ∈ [−1, 1], throttle ∈ [0, 1], brake ∈ [0, 1]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speed_kmh; command: 0=FOLLOW, 1=LEFT, 2=RIGHT, 3=STRAIGHT</a:t>
            </a:r>
          </a:p>
        </p:txBody>
      </p:sp>
      <p:sp>
        <p:nvSpPr>
          <p:cNvPr id="960" name="DataRight"/>
          <p:cNvSpPr txBox="1"/>
          <p:nvPr/>
        </p:nvSpPr>
        <p:spPr>
          <a:xfrm>
            <a:off x="6604000" y="1143000"/>
            <a:ext cx="5207000" cy="3530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BEV-тензор лидара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Облако точек → регулярная сетка 5 × 200 × 200, покрытие ±25 м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Высота z ∈ [−3, 2] м кодируется в 4 высотных среза (дорога, бордюр, машины)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5-й канал — интенсивность отражения</a:t>
            </a:r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Метки навигационных команд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get_command() анализирует waypoint на 28 м вперёд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Перекрёсток в радиусе 22 м: угол &lt; −20° → LEFT, &gt; +20° → RIGHT, иначе STRAIGHT; без перекрёстка → FOLLOW</a:t>
            </a:r>
          </a:p>
        </p:txBody>
      </p:sp>
      <p:sp>
        <p:nvSpPr>
          <p:cNvPr id="2" name="dv">
            <a:extLst>
              <a:ext uri="{FF2B5EF4-FFF2-40B4-BE49-F238E27FC236}">
                <a16:creationId xmlns:a16="http://schemas.microsoft.com/office/drawing/2014/main" id="{7D16402E-03C4-4F05-9BA6-13ABABBB0BD8}"/>
              </a:ext>
            </a:extLst>
          </p:cNvPr>
          <p:cNvSpPr/>
          <p:nvPr/>
        </p:nvSpPr>
        <p:spPr>
          <a:xfrm>
            <a:off x="762000" y="4927600"/>
            <a:ext cx="2667000" cy="914400"/>
          </a:xfrm>
          <a:prstGeom prst="roundRect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1300" b="1">
                <a:solidFill>
                  <a:srgbClr val="FFFFFF"/>
                </a:solidFill>
                <a:latin typeface="Calibri"/>
                <a:cs typeface="Calibri"/>
              </a:rPr>
              <a:t>Один тик CARLA
frame_id</a:t>
            </a:r>
            <a:endParaRPr lang="ru-RU" sz="1300" b="1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dv">
            <a:extLst>
              <a:ext uri="{FF2B5EF4-FFF2-40B4-BE49-F238E27FC236}">
                <a16:creationId xmlns:a16="http://schemas.microsoft.com/office/drawing/2014/main" id="{C527F0C4-0C42-4BE9-A7DA-217DCCBCA35F}"/>
              </a:ext>
            </a:extLst>
          </p:cNvPr>
          <p:cNvSpPr/>
          <p:nvPr/>
        </p:nvSpPr>
        <p:spPr>
          <a:xfrm>
            <a:off x="3632200" y="5257800"/>
            <a:ext cx="584200" cy="279400"/>
          </a:xfrm>
          <a:prstGeom prst="rightArrow">
            <a:avLst/>
          </a:prstGeom>
          <a:solidFill>
            <a:srgbClr val="005AAA"/>
          </a:solidFill>
          <a:ln w="635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5" name="dv">
            <a:extLst>
              <a:ext uri="{FF2B5EF4-FFF2-40B4-BE49-F238E27FC236}">
                <a16:creationId xmlns:a16="http://schemas.microsoft.com/office/drawing/2014/main" id="{633623C2-7358-4C23-8ED7-3AEA21A6339C}"/>
              </a:ext>
            </a:extLst>
          </p:cNvPr>
          <p:cNvSpPr/>
          <p:nvPr/>
        </p:nvSpPr>
        <p:spPr>
          <a:xfrm>
            <a:off x="4419600" y="4749800"/>
            <a:ext cx="7112000" cy="431800"/>
          </a:xfrm>
          <a:prstGeom prst="roundRect">
            <a:avLst/>
          </a:prstGeom>
          <a:solidFill>
            <a:srgbClr val="DCE9F7"/>
          </a:solidFill>
          <a:ln w="12700" cap="flat" cmpd="sng" algn="ctr">
            <a:solidFill>
              <a:srgbClr val="5B9BD5"/>
            </a:solidFill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50">
                <a:solidFill>
                  <a:srgbClr val="222222"/>
                </a:solidFill>
                <a:latin typeface="Calibri"/>
                <a:cs typeface="Calibri"/>
              </a:rPr>
              <a:t>images/{frame_id}.png  —  </a:t>
            </a:r>
            <a:r>
              <a:rPr lang="ru-RU" sz="1250">
                <a:solidFill>
                  <a:srgbClr val="222222"/>
                </a:solidFill>
                <a:latin typeface="Calibri"/>
                <a:cs typeface="Calibri"/>
              </a:rPr>
              <a:t>кадр 224×224×3 </a:t>
            </a:r>
            <a:r>
              <a:rPr lang="en-US" sz="1250">
                <a:solidFill>
                  <a:srgbClr val="222222"/>
                </a:solidFill>
                <a:latin typeface="Calibri"/>
                <a:cs typeface="Calibri"/>
              </a:rPr>
              <a:t>RGB</a:t>
            </a:r>
            <a:endParaRPr lang="ru-RU" sz="1250" dirty="0">
              <a:solidFill>
                <a:srgbClr val="222222"/>
              </a:solidFill>
              <a:latin typeface="Calibri"/>
              <a:cs typeface="Calibri"/>
            </a:endParaRPr>
          </a:p>
        </p:txBody>
      </p:sp>
      <p:sp>
        <p:nvSpPr>
          <p:cNvPr id="6" name="dv">
            <a:extLst>
              <a:ext uri="{FF2B5EF4-FFF2-40B4-BE49-F238E27FC236}">
                <a16:creationId xmlns:a16="http://schemas.microsoft.com/office/drawing/2014/main" id="{9543C105-F772-41C9-B395-F7E852DBF66A}"/>
              </a:ext>
            </a:extLst>
          </p:cNvPr>
          <p:cNvSpPr/>
          <p:nvPr/>
        </p:nvSpPr>
        <p:spPr>
          <a:xfrm>
            <a:off x="4419600" y="5257800"/>
            <a:ext cx="7112000" cy="431800"/>
          </a:xfrm>
          <a:prstGeom prst="roundRect">
            <a:avLst/>
          </a:prstGeom>
          <a:solidFill>
            <a:srgbClr val="FBF1D2"/>
          </a:solidFill>
          <a:ln w="12700" cap="flat" cmpd="sng" algn="ctr">
            <a:solidFill>
              <a:srgbClr val="C9A94E"/>
            </a:solidFill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50">
                <a:solidFill>
                  <a:srgbClr val="222222"/>
                </a:solidFill>
                <a:latin typeface="Calibri"/>
                <a:cs typeface="Calibri"/>
              </a:rPr>
              <a:t>lidar/{frame_id}.npy  —  BEV-</a:t>
            </a:r>
            <a:r>
              <a:rPr lang="ru-RU" sz="1250">
                <a:solidFill>
                  <a:srgbClr val="222222"/>
                </a:solidFill>
                <a:latin typeface="Calibri"/>
                <a:cs typeface="Calibri"/>
              </a:rPr>
              <a:t>тензор 5×200×200</a:t>
            </a:r>
            <a:endParaRPr lang="ru-RU" sz="1250" dirty="0">
              <a:solidFill>
                <a:srgbClr val="222222"/>
              </a:solidFill>
              <a:latin typeface="Calibri"/>
              <a:cs typeface="Calibri"/>
            </a:endParaRPr>
          </a:p>
        </p:txBody>
      </p:sp>
      <p:sp>
        <p:nvSpPr>
          <p:cNvPr id="8" name="dv">
            <a:extLst>
              <a:ext uri="{FF2B5EF4-FFF2-40B4-BE49-F238E27FC236}">
                <a16:creationId xmlns:a16="http://schemas.microsoft.com/office/drawing/2014/main" id="{C78403F2-634C-4F0B-A6BD-3D1DE36F98F6}"/>
              </a:ext>
            </a:extLst>
          </p:cNvPr>
          <p:cNvSpPr/>
          <p:nvPr/>
        </p:nvSpPr>
        <p:spPr>
          <a:xfrm>
            <a:off x="4419600" y="5765800"/>
            <a:ext cx="7112000" cy="431800"/>
          </a:xfrm>
          <a:prstGeom prst="roundRect">
            <a:avLst/>
          </a:prstGeom>
          <a:solidFill>
            <a:srgbClr val="E3EFDB"/>
          </a:solidFill>
          <a:ln w="12700" cap="flat" cmpd="sng" algn="ctr">
            <a:solidFill>
              <a:srgbClr val="70AD47"/>
            </a:solidFill>
            <a:prstDash val="solid"/>
            <a:miter lim="800000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50">
                <a:solidFill>
                  <a:srgbClr val="222222"/>
                </a:solidFill>
                <a:latin typeface="Calibri"/>
                <a:cs typeface="Calibri"/>
              </a:rPr>
              <a:t>labels.csv  —  steer, throttle, brake, speed, command</a:t>
            </a:r>
            <a:endParaRPr lang="ru-RU" sz="1250" dirty="0">
              <a:solidFill>
                <a:srgbClr val="222222"/>
              </a:solidFill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98F1C-C2BA-3BF9-E421-7030B2E06095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3997809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Обучение модели и функция потерь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851C9-717F-44B2-B3B6-C8804E644141}"/>
              </a:ext>
            </a:extLst>
          </p:cNvPr>
          <p:cNvSpPr txBox="1"/>
          <p:nvPr/>
        </p:nvSpPr>
        <p:spPr>
          <a:xfrm>
            <a:off x="546100" y="1143000"/>
            <a:ext cx="5588000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Процесс обучения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Разбивка train 85% / val 15% — последовательная, без утечки данных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Оптимизатор AdamW: lr_backbone = 3·10⁻⁵, lr_head = 3·10⁻⁴, weight_decay = 10⁻⁴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Планировщик CosineAnnealingWarmRestarts (T₀ = 20, T_mult = 2)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Ранняя остановка: patience = 20 эпох; максимум 80 эпох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Балансировка WeightedRandomSampler: повороты ×8, команды LEFT/RIGHT/STRAIGHT ×6</a:t>
            </a:r>
          </a:p>
        </p:txBody>
      </p:sp>
      <p:sp>
        <p:nvSpPr>
          <p:cNvPr id="970" name="LossBox"/>
          <p:cNvSpPr txBox="1"/>
          <p:nvPr/>
        </p:nvSpPr>
        <p:spPr>
          <a:xfrm>
            <a:off x="6413500" y="1143000"/>
            <a:ext cx="5334000" cy="32766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Функция потерь: Branch-Gated CIL Loss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Градиент идёт только через ветку активной команды c (branch-gating)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L = α·β·SmoothL1(steer) + MSE(throttle); α = 8 (руль критичнее), β = ×2 для поворотов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Вспомогательная потеря скорости: + 0,5·MSE(speed)</a:t>
            </a:r>
          </a:p>
          <a:p>
            <a:pPr algn="l"/>
            <a:r>
              <a:rPr lang="ru-RU" sz="1400" b="1" dirty="0"/>
              <a:t>Результаты обучения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Val Steer MAE = 0,0046 (≈ 0,3° на руле); throttle MAE сопоставим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Train / Val Loss монотонно убывают — переобучения нет</a:t>
            </a:r>
          </a:p>
        </p:txBody>
      </p:sp>
      <p:pic>
        <p:nvPicPr>
          <p:cNvPr id="971" name="Copied Picture 971">
            <a:extLst>
              <a:ext uri="{FF2B5EF4-FFF2-40B4-BE49-F238E27FC236}">
                <a16:creationId xmlns:a16="http://schemas.microsoft.com/office/drawing/2014/main" id="{B2B4C329-22AE-6B9F-8B86-A21F144FD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83000"/>
            <a:ext cx="4318000" cy="3162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BCFFF9-729B-9F0A-C5ED-72E336F25827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252623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Инференс и двухуровневая безопасность</a:t>
            </a:r>
          </a:p>
        </p:txBody>
      </p:sp>
      <p:sp>
        <p:nvSpPr>
          <p:cNvPr id="700" name="Inference"/>
          <p:cNvSpPr txBox="1"/>
          <p:nvPr/>
        </p:nvSpPr>
        <p:spPr>
          <a:xfrm>
            <a:off x="546100" y="1143000"/>
            <a:ext cx="5689600" cy="38100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Цикл работы inference.py (~20 Гц)</a:t>
            </a:r>
          </a:p>
          <a:p>
            <a:pPr marL="285750" indent="-285750" algn="l">
              <a:buFont typeface="+mj-lt"/>
              <a:buAutoNum type="arabicPeriod"/>
            </a:pPr>
            <a:r>
              <a:rPr lang="ru-RU" sz="1300" dirty="0"/>
              <a:t>Захват кадра: RGB-камера, лидарный BEV, текущая скорость</a:t>
            </a:r>
          </a:p>
          <a:p>
            <a:pPr marL="285750" indent="-285750" algn="l">
              <a:buFont typeface="+mj-lt"/>
              <a:buAutoNum type="arabicPeriod"/>
            </a:pPr>
            <a:r>
              <a:rPr lang="ru-RU" sz="1300" dirty="0"/>
              <a:t>Определение команды через </a:t>
            </a:r>
            <a:r>
              <a:rPr lang="ru-RU" sz="1300" i="1" dirty="0"/>
              <a:t>get_command()</a:t>
            </a:r>
            <a:r>
              <a:rPr lang="ru-RU" sz="1300" dirty="0"/>
              <a:t> — анализ путевых точек CARLA на 28 м вперёд</a:t>
            </a:r>
          </a:p>
          <a:p>
            <a:pPr marL="285750" indent="-285750" algn="l">
              <a:buFont typeface="+mj-lt"/>
              <a:buAutoNum type="arabicPeriod"/>
            </a:pPr>
            <a:r>
              <a:rPr lang="ru-RU" sz="1300" dirty="0"/>
              <a:t>Прогон через CILDriveNet (память GRU между тиками) → steer и throttle</a:t>
            </a:r>
          </a:p>
          <a:p>
            <a:pPr marL="285750" indent="-285750" algn="l">
              <a:buFont typeface="+mj-lt"/>
              <a:buAutoNum type="arabicPeriod"/>
            </a:pPr>
            <a:r>
              <a:rPr lang="ru-RU" sz="1300" dirty="0"/>
              <a:t>Проверка защит, при срабатывании — экстренное торможение</a:t>
            </a:r>
          </a:p>
          <a:p>
            <a:pPr marL="285750" indent="-285750" algn="l">
              <a:buFont typeface="+mj-lt"/>
              <a:buAutoNum type="arabicPeriod"/>
            </a:pPr>
            <a:r>
              <a:rPr lang="ru-RU" sz="1300" dirty="0"/>
              <a:t>Применение управления + HUD: CMD, steer, throttle, speed, OBSTACLE</a:t>
            </a:r>
          </a:p>
        </p:txBody>
      </p:sp>
      <p:sp>
        <p:nvSpPr>
          <p:cNvPr id="710" name="Safety"/>
          <p:cNvSpPr txBox="1"/>
          <p:nvPr/>
        </p:nvSpPr>
        <p:spPr>
          <a:xfrm>
            <a:off x="6350000" y="1143000"/>
            <a:ext cx="5334000" cy="2349500"/>
          </a:xfrm>
          <a:prstGeom prst="rect">
            <a:avLst/>
          </a:prstGeom>
        </p:spPr>
        <p:txBody>
          <a:bodyPr wrap="square" rtlCol="0"/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Двухуровневая защита от столкновений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Уровень 1 (физический луч): </a:t>
            </a:r>
            <a:r>
              <a:rPr lang="ru-RU" sz="1300" dirty="0"/>
              <a:t>sensor.other.obstacle, 15 м → brake = 0.8</a:t>
            </a:r>
          </a:p>
          <a:p>
            <a:pPr marL="200000" indent="-200000" algn="l">
              <a:buFont typeface="Arial"/>
              <a:buChar char="•"/>
            </a:pPr>
            <a:r>
              <a:rPr lang="ru-RU" sz="1300" b="1" dirty="0"/>
              <a:t>Уровень 2 (LIDAR-проверка): </a:t>
            </a:r>
            <a:r>
              <a:rPr lang="ru-RU" sz="1300" dirty="0"/>
              <a:t>obstacle_ahead(pts) по BEV, 8 м → brake = 0.8</a:t>
            </a:r>
          </a:p>
          <a:p>
            <a:pPr algn="just"/>
            <a:r>
              <a:rPr lang="ru-RU" sz="1300" i="1" dirty="0"/>
              <a:t>Защита работает параллельно с нейросетью: если хотя бы один уровень обнаружил препятствие, throttle обнуляется и применяется тормоз.</a:t>
            </a:r>
          </a:p>
        </p:txBody>
      </p:sp>
      <p:sp>
        <p:nvSpPr>
          <p:cNvPr id="712" name="Caption"/>
          <p:cNvSpPr txBox="1"/>
          <p:nvPr/>
        </p:nvSpPr>
        <p:spPr>
          <a:xfrm>
            <a:off x="7302500" y="6502400"/>
            <a:ext cx="3429000" cy="228600"/>
          </a:xfrm>
          <a:prstGeom prst="rect">
            <a:avLst/>
          </a:prstGeom>
        </p:spPr>
        <p:txBody>
          <a:bodyPr wrap="square" rtlCol="0" anchor="t"/>
          <a:lstStyle/>
          <a:p>
            <a:pPr algn="ctr"/>
            <a:r>
              <a:rPr lang="ru-RU" sz="1000" i="1" dirty="0">
                <a:solidFill>
                  <a:srgbClr val="595959"/>
                </a:solidFill>
              </a:rPr>
              <a:t>Вид с RGB-камеры (</a:t>
            </a:r>
            <a:r>
              <a:rPr lang="ru-RU" sz="1000" i="1">
                <a:solidFill>
                  <a:srgbClr val="595959"/>
                </a:solidFill>
              </a:rPr>
              <a:t>CARLA Town10HD</a:t>
            </a:r>
            <a:r>
              <a:rPr lang="ru-RU" sz="1000" i="1" dirty="0">
                <a:solidFill>
                  <a:srgbClr val="595959"/>
                </a:solidFill>
              </a:rPr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79A9EC-1689-E639-833F-FE8704B1B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3657600"/>
            <a:ext cx="3175000" cy="2806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6F9831-C621-E0AE-16DD-7EDFFFE821C0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2331686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ru-RU" dirty="0"/>
              <a:t>Результаты тестирования в CARLA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E4BAC-9AA0-4445-8D9B-19443548F629}"/>
              </a:ext>
            </a:extLst>
          </p:cNvPr>
          <p:cNvSpPr txBox="1"/>
          <p:nvPr/>
        </p:nvSpPr>
        <p:spPr>
          <a:xfrm>
            <a:off x="546100" y="1143000"/>
            <a:ext cx="5715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500" b="1" dirty="0">
                <a:solidFill>
                  <a:srgbClr val="005AAA"/>
                </a:solidFill>
              </a:rPr>
              <a:t>Качественные результаты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Удержание полосы и повороты на перекрёстках строго по навигационной команде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Снижение скорости и остановка перед впереди идущим транспортом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Двухуровневая защита предотвращает столкновения — 0 за все заезды</a:t>
            </a:r>
          </a:p>
          <a:p>
            <a:endParaRPr lang="ru-RU" sz="800" dirty="0"/>
          </a:p>
          <a:p>
            <a:pPr algn="l"/>
            <a:r>
              <a:rPr lang="ru-RU" sz="1500" b="1" dirty="0">
                <a:solidFill>
                  <a:srgbClr val="005AAA"/>
                </a:solidFill>
              </a:rPr>
              <a:t>Обобщение на незнакомую карту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Town03 не входила в обучающую выборку — модель уверенно отработала все 4 команды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Поведение устойчиво на незнакомой геометрии дорог при средней скорости 13,9–15,9 км/ч</a:t>
            </a:r>
          </a:p>
        </p:txBody>
      </p:sp>
      <p:graphicFrame>
        <p:nvGraphicFramePr>
          <p:cNvPr id="900" name="TestResults"/>
          <p:cNvGraphicFramePr/>
          <p:nvPr/>
        </p:nvGraphicFramePr>
        <p:xfrm>
          <a:off x="6477000" y="1270000"/>
          <a:ext cx="5080000" cy="1092200"/>
        </p:xfrm>
        <a:graphic>
          <a:graphicData uri="http://schemas.openxmlformats.org/drawingml/2006/table">
            <a:tbl>
              <a:tblPr firstRow="1" bandRow="1"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Карта</a:t>
                      </a:r>
                    </a:p>
                  </a:txBody>
                  <a:tcPr marL="36000" marR="36000" marT="18000" marB="18000" anchor="ctr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Кадров</a:t>
                      </a:r>
                    </a:p>
                  </a:txBody>
                  <a:tcPr marL="36000" marR="36000" marT="18000" marB="18000" anchor="ctr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Ср. км/ч</a:t>
                      </a:r>
                    </a:p>
                  </a:txBody>
                  <a:tcPr marL="36000" marR="36000" marT="18000" marB="18000" anchor="ctr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Столкн.</a:t>
                      </a:r>
                    </a:p>
                  </a:txBody>
                  <a:tcPr marL="36000" marR="36000" marT="18000" marB="18000" anchor="ctr">
                    <a:solidFill>
                      <a:srgbClr val="005A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rgbClr val="FFFFFF"/>
                          </a:solidFill>
                        </a:rPr>
                        <a:t>Команды</a:t>
                      </a:r>
                    </a:p>
                  </a:txBody>
                  <a:tcPr marL="36000" marR="36000" marT="18000" marB="18000" anchor="ctr">
                    <a:solidFill>
                      <a:srgbClr val="005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rgbClr val="222222"/>
                          </a:solidFill>
                        </a:rPr>
                        <a:t>Town10HD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2 800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13,9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4 / 4</a:t>
                      </a:r>
                    </a:p>
                  </a:txBody>
                  <a:tcPr marL="36000" marR="36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rgbClr val="222222"/>
                          </a:solidFill>
                        </a:rPr>
                        <a:t>Town03</a:t>
                      </a:r>
                    </a:p>
                  </a:txBody>
                  <a:tcPr marL="36000" marR="36000" marT="18000" marB="18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1 400</a:t>
                      </a:r>
                    </a:p>
                  </a:txBody>
                  <a:tcPr marL="36000" marR="36000" marT="18000" marB="18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15,9</a:t>
                      </a:r>
                    </a:p>
                  </a:txBody>
                  <a:tcPr marL="36000" marR="36000" marT="18000" marB="18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0</a:t>
                      </a:r>
                    </a:p>
                  </a:txBody>
                  <a:tcPr marL="36000" marR="36000" marT="18000" marB="18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rgbClr val="222222"/>
                          </a:solidFill>
                        </a:rPr>
                        <a:t>4 / 4</a:t>
                      </a:r>
                    </a:p>
                  </a:txBody>
                  <a:tcPr marL="36000" marR="36000" marT="18000" marB="18000" anchor="ctr">
                    <a:solidFill>
                      <a:srgbClr val="EA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447CB6-0353-A13E-01E0-DF981679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0" y="2641600"/>
            <a:ext cx="3810000" cy="3810000"/>
          </a:xfrm>
          <a:prstGeom prst="rect">
            <a:avLst/>
          </a:prstGeom>
        </p:spPr>
      </p:pic>
      <p:sp>
        <p:nvSpPr>
          <p:cNvPr id="5" name="TurnCaption">
            <a:extLst>
              <a:ext uri="{FF2B5EF4-FFF2-40B4-BE49-F238E27FC236}">
                <a16:creationId xmlns:a16="http://schemas.microsoft.com/office/drawing/2014/main" id="{179D3664-14F2-4CBE-8E1D-9CA2750C1D4E}"/>
              </a:ext>
            </a:extLst>
          </p:cNvPr>
          <p:cNvSpPr txBox="1"/>
          <p:nvPr/>
        </p:nvSpPr>
        <p:spPr>
          <a:xfrm>
            <a:off x="6502400" y="65024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ru-RU" sz="1200" i="1">
                <a:solidFill>
                  <a:srgbClr val="666666"/>
                </a:solidFill>
              </a:rPr>
              <a:t>Выполнение поворота на перекрёстке (CARLA, режим инференса)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ED32B0-ED70-495B-8660-973657275405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768937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625BD-D3BC-A954-993C-58ACED081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и 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6333AE-DB38-9C73-5249-91843DF5D4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l"/>
            <a:r>
              <a:rPr lang="ru-RU" sz="1600" b="1" dirty="0">
                <a:solidFill>
                  <a:srgbClr val="005AAA"/>
                </a:solidFill>
              </a:rPr>
              <a:t>Выявленные ограничения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Выезд за полосу на широких участках и пологих поворотах — дисбаланс данных в пользу прямого движения</a:t>
            </a:r>
          </a:p>
          <a:p>
            <a:endParaRPr lang="ru-RU" sz="800" dirty="0"/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Запоздалое торможение в плотном трафике — обучающие данные собраны TM-автопилотом без резких торможений</a:t>
            </a:r>
          </a:p>
          <a:p>
            <a:endParaRPr lang="ru-RU" sz="800" dirty="0"/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Резкость сигналов по рулю — сглаживается экспоненциальным фильтром, что вносит небольшую задержку реакции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BFACCD-AAA6-85EB-D6B7-2294ACFA0E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rPr lang="ru-RU" sz="1600" b="1" dirty="0">
                <a:solidFill>
                  <a:srgbClr val="005AAA"/>
                </a:solidFill>
              </a:rPr>
              <a:t>Выводы и значимость</a:t>
            </a:r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Спроектирована, обучена и провалидирована мультимодальная модель CILDriveNet (RGB + LiDAR BEV + скорость + GRU)</a:t>
            </a:r>
          </a:p>
          <a:p>
            <a:endParaRPr lang="ru-RU" sz="800" dirty="0"/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Решена техническая проблема CARLA 0.9.14 (нулевые get_control / get_velocity) — расчёт управления по модели Аккермана</a:t>
            </a:r>
          </a:p>
          <a:p>
            <a:endParaRPr lang="ru-RU" sz="800" dirty="0"/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Создан рабочий прототип автономной навигации в реальном времени; модель обобщается на незнакомые карты</a:t>
            </a:r>
          </a:p>
          <a:p>
            <a:endParaRPr lang="ru-RU" sz="800" dirty="0"/>
          </a:p>
          <a:p>
            <a:pPr marL="200000" indent="-200000" algn="just">
              <a:buFont typeface="Arial"/>
              <a:buChar char="•"/>
            </a:pPr>
            <a:r>
              <a:rPr lang="ru-RU" sz="1400" dirty="0"/>
              <a:t>Дальнейшая работа: сбор сцен с торможением, удлинение рекуррентной последовательности GRU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F2331-A80E-0358-C715-DA1AEF9A04E6}"/>
              </a:ext>
            </a:extLst>
          </p:cNvPr>
          <p:cNvSpPr txBox="1"/>
          <p:nvPr/>
        </p:nvSpPr>
        <p:spPr>
          <a:xfrm>
            <a:off x="11626649" y="6464900"/>
            <a:ext cx="5549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из 15</a:t>
            </a:r>
          </a:p>
        </p:txBody>
      </p:sp>
    </p:spTree>
    <p:extLst>
      <p:ext uri="{BB962C8B-B14F-4D97-AF65-F5344CB8AC3E}">
        <p14:creationId xmlns:p14="http://schemas.microsoft.com/office/powerpoint/2010/main" val="210139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3FECA3C-C179-782F-6500-322D99C2DB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29660858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79E8F4-EFD7-4799-806E-68683A9FB545}">
  <we:reference id="wa200010725" version="1.0.0.1" store="ru-RU" storeType="OMEX"/>
  <we:alternateReferences>
    <we:reference id="WA200010725" version="1.0.0.1" store="WA200010725" storeType="OMEX"/>
  </we:alternateReferences>
  <we:properties>
    <we:property name="claude.fileId" value="&quot;8e2dc39c-fa27-4191-8ee4-68e98189765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601</TotalTime>
  <Words>2063</Words>
  <Application>Microsoft Office PowerPoint</Application>
  <PresentationFormat>Широкоэкранный</PresentationFormat>
  <Paragraphs>268</Paragraphs>
  <Slides>15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Open Sans</vt:lpstr>
      <vt:lpstr>Wingdings</vt:lpstr>
      <vt:lpstr>Arial</vt:lpstr>
      <vt:lpstr>Calibri</vt:lpstr>
      <vt:lpstr>Титульная страница</vt:lpstr>
      <vt:lpstr>Текстовые блоки</vt:lpstr>
      <vt:lpstr>Дополнительные блоки</vt:lpstr>
      <vt:lpstr>Разработка моделей глубокого обучения для задачи автономной навигации</vt:lpstr>
      <vt:lpstr>Цель и задачи</vt:lpstr>
      <vt:lpstr>Подходы к автономному вождению и идея CIL</vt:lpstr>
      <vt:lpstr>Рекуррентная память: GRU</vt:lpstr>
      <vt:lpstr>Сравнение с аналогами</vt:lpstr>
      <vt:lpstr>Стек технологий и требования</vt:lpstr>
      <vt:lpstr>Архитектура CILDriveNet</vt:lpstr>
      <vt:lpstr>Среда CARLA и LiDAR BEV-представление</vt:lpstr>
      <vt:lpstr>Конвейер сбора данных и баланс классов</vt:lpstr>
      <vt:lpstr>Структуры данных: датасет и BEV-тензор</vt:lpstr>
      <vt:lpstr>Обучение модели и функция потерь</vt:lpstr>
      <vt:lpstr>Инференс и двухуровневая безопасность</vt:lpstr>
      <vt:lpstr>Результаты тестирования в CARLA</vt:lpstr>
      <vt:lpstr>Ограничения и выводы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creator>Алексей Малышев</dc:creator>
  <cp:lastModifiedBy>Данила Григорьев</cp:lastModifiedBy>
  <cp:revision>19</cp:revision>
  <dcterms:created xsi:type="dcterms:W3CDTF">2023-06-16T08:15:39Z</dcterms:created>
  <dcterms:modified xsi:type="dcterms:W3CDTF">2026-06-23T08:04:18Z</dcterms:modified>
</cp:coreProperties>
</file>